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7" r:id="rId6"/>
    <p:sldId id="268" r:id="rId7"/>
    <p:sldId id="269" r:id="rId8"/>
    <p:sldId id="271" r:id="rId9"/>
    <p:sldId id="272" r:id="rId10"/>
    <p:sldId id="266" r:id="rId11"/>
    <p:sldId id="273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04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0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bs-Latn-BA" altLang="en-US">
                <a:ea typeface="+mj-ea"/>
              </a:rPr>
              <a:t>Solid Oxide Fuel Cell + Invertor - Dinammički Konvertor za IEEE Testne Mreže</a:t>
            </a:r>
            <a:endParaRPr lang="bs-Latn-BA" altLang="en-US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bs-Latn-BA" altLang="en-US">
                <a:ea typeface="+mn-ea"/>
              </a:rPr>
              <a:t>Strukture i režimi rada elektroenergetskih sistema</a:t>
            </a:r>
            <a:endParaRPr lang="bs-Latn-BA" altLang="en-US">
              <a:ea typeface="+mn-ea"/>
            </a:endParaRPr>
          </a:p>
          <a:p>
            <a:r>
              <a:rPr lang="bs-Latn-BA" altLang="en-US">
                <a:ea typeface="+mn-ea"/>
              </a:rPr>
              <a:t>Akademska 2025/2026. godina</a:t>
            </a:r>
            <a:endParaRPr lang="bs-Latn-BA" altLang="en-US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Contents </a:t>
            </a:r>
            <a:endParaRPr lang="en-US">
              <a:ea typeface="+mj-ea"/>
            </a:endParaRPr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1626049" y="1401238"/>
            <a:ext cx="812351" cy="7126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lt"/>
              </a:rPr>
              <a:t>01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lt"/>
            </a:endParaRPr>
          </a:p>
        </p:txBody>
      </p:sp>
      <p:sp>
        <p:nvSpPr>
          <p:cNvPr id="2" name="项标题"/>
          <p:cNvSpPr txBox="1"/>
          <p:nvPr>
            <p:custDataLst>
              <p:tags r:id="rId3"/>
            </p:custDataLst>
          </p:nvPr>
        </p:nvSpPr>
        <p:spPr>
          <a:xfrm>
            <a:off x="2531627" y="1505552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ea"/>
              </a:rPr>
              <a:t>Your title here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4"/>
            </p:custDataLst>
          </p:nvPr>
        </p:nvSpPr>
        <p:spPr>
          <a:xfrm>
            <a:off x="1626049" y="4588938"/>
            <a:ext cx="812351" cy="7126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lt"/>
              </a:rPr>
              <a:t>04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lt"/>
            </a:endParaRPr>
          </a:p>
        </p:txBody>
      </p:sp>
      <p:sp>
        <p:nvSpPr>
          <p:cNvPr id="14" name="项标题"/>
          <p:cNvSpPr txBox="1"/>
          <p:nvPr>
            <p:custDataLst>
              <p:tags r:id="rId5"/>
            </p:custDataLst>
          </p:nvPr>
        </p:nvSpPr>
        <p:spPr>
          <a:xfrm>
            <a:off x="2531627" y="4693252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Your title here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ea"/>
            </a:endParaRPr>
          </a:p>
        </p:txBody>
      </p:sp>
      <p:sp>
        <p:nvSpPr>
          <p:cNvPr id="16" name="序号"/>
          <p:cNvSpPr txBox="1"/>
          <p:nvPr>
            <p:custDataLst>
              <p:tags r:id="rId6"/>
            </p:custDataLst>
          </p:nvPr>
        </p:nvSpPr>
        <p:spPr>
          <a:xfrm>
            <a:off x="1626049" y="2463805"/>
            <a:ext cx="812351" cy="7126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lt"/>
              </a:rPr>
              <a:t>02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lt"/>
            </a:endParaRPr>
          </a:p>
        </p:txBody>
      </p:sp>
      <p:sp>
        <p:nvSpPr>
          <p:cNvPr id="17" name="项标题"/>
          <p:cNvSpPr txBox="1"/>
          <p:nvPr>
            <p:custDataLst>
              <p:tags r:id="rId7"/>
            </p:custDataLst>
          </p:nvPr>
        </p:nvSpPr>
        <p:spPr>
          <a:xfrm>
            <a:off x="2531627" y="2568119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ea"/>
              </a:rPr>
              <a:t>Your title here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ea"/>
            </a:endParaRPr>
          </a:p>
        </p:txBody>
      </p:sp>
      <p:sp>
        <p:nvSpPr>
          <p:cNvPr id="19" name="序号"/>
          <p:cNvSpPr txBox="1"/>
          <p:nvPr>
            <p:custDataLst>
              <p:tags r:id="rId8"/>
            </p:custDataLst>
          </p:nvPr>
        </p:nvSpPr>
        <p:spPr>
          <a:xfrm>
            <a:off x="1626049" y="3526372"/>
            <a:ext cx="812351" cy="7126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n-lt"/>
              </a:rPr>
              <a:t>03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lt"/>
            </a:endParaRPr>
          </a:p>
        </p:txBody>
      </p:sp>
      <p:sp>
        <p:nvSpPr>
          <p:cNvPr id="20" name="项标题"/>
          <p:cNvSpPr txBox="1"/>
          <p:nvPr>
            <p:custDataLst>
              <p:tags r:id="rId9"/>
            </p:custDataLst>
          </p:nvPr>
        </p:nvSpPr>
        <p:spPr>
          <a:xfrm>
            <a:off x="2531627" y="363068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Your title here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50890" y="1810385"/>
            <a:ext cx="5464175" cy="4758690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- Solid Oxide Fuel Cell (SOFC) je elektrokemijski ure</a:t>
            </a:r>
            <a:r>
              <a:rPr lang="" altLang="en-US" sz="2000">
                <a:ea typeface="+mj-ea"/>
              </a:rPr>
              <a:t>đ</a:t>
            </a:r>
            <a:r>
              <a:rPr lang="en-US" altLang="en-US" sz="2000">
                <a:ea typeface="+mj-ea"/>
              </a:rPr>
              <a:t>aj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koji pretvara hemijsku energiju direktno u elektri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nu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Radna temperatura: 600-1000°C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Efikasnost: 50-65% (ve</a:t>
            </a:r>
            <a:r>
              <a:rPr lang="" altLang="en-US" sz="2000">
                <a:ea typeface="+mj-ea"/>
              </a:rPr>
              <a:t>ć</a:t>
            </a:r>
            <a:r>
              <a:rPr lang="en-US" altLang="en-US" sz="2000">
                <a:ea typeface="+mj-ea"/>
              </a:rPr>
              <a:t>a od konvencionalnih generatora)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SOFC + Invertor = sistem za napajanje AC mre</a:t>
            </a:r>
            <a:r>
              <a:rPr lang="" altLang="en-US" sz="2000">
                <a:ea typeface="+mj-ea"/>
              </a:rPr>
              <a:t>ž</a:t>
            </a:r>
            <a:r>
              <a:rPr lang="en-US" altLang="en-US" sz="2000">
                <a:ea typeface="+mj-ea"/>
              </a:rPr>
              <a:t>e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Primjena: distribuirana proizvodnja elektri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ne energije</a:t>
            </a:r>
            <a:endParaRPr lang="en-US" altLang="en-US" sz="2000">
              <a:ea typeface="+mj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bs-Latn-BA">
                <a:ea typeface="+mn-ea"/>
              </a:rPr>
              <a:t>01</a:t>
            </a:r>
            <a:endParaRPr lang="bs-Latn-BA">
              <a:ea typeface="+mn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 altLang="en-US">
                <a:ea typeface="+mj-ea"/>
              </a:rPr>
              <a:t>Šta je SOFC?</a:t>
            </a:r>
            <a:endParaRPr lang="bs-Latn-BA" altLang="en-US"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50890" y="1810385"/>
            <a:ext cx="5464175" cy="4758690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Nernst napon: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V_Nernst = E0 + (RT/2F) · ln(pH2 · √pO2 / pH2O)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Gubici napona: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V_cell = V_Nernst - V_ohm - V_act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gdje je: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V_ohm = I · Rint  (ohmski gubitak)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V_act = 0.1 · ln(1 + I/0.01)  (aktivacijski gubitak)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Invertor: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P_ac = η · P_sofc    (η = 0.96)</a:t>
            </a:r>
            <a:endParaRPr lang="en-US" altLang="en-US" sz="2000">
              <a:ea typeface="+mj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bs-Latn-BA">
                <a:ea typeface="+mn-ea"/>
              </a:rPr>
              <a:t>02</a:t>
            </a:r>
            <a:endParaRPr lang="bs-Latn-BA">
              <a:ea typeface="+mn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 altLang="en-US">
                <a:ea typeface="+mj-ea"/>
              </a:rPr>
              <a:t>Matematički model</a:t>
            </a:r>
            <a:endParaRPr lang="bs-Latn-BA" altLang="en-US"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50890" y="1810385"/>
            <a:ext cx="5464175" cy="4758690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Naslov: Implementacija - Plugin arhitektura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C++ plugin (DLL) u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itan u dTwin aplikaciju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Dva threada: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Thread 1: konverzija i ra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unanje modela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Thread 2: real-time progress indikator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GUI sa dva taba: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Converter: u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itavanje XML config fajla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Options: SOFC parametri</a:t>
            </a:r>
            <a:br>
              <a:rPr lang="en-US" altLang="en-US" sz="2000">
                <a:ea typeface="+mj-ea"/>
              </a:rPr>
            </a:b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- XML konfiguracijski fajl: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Broj case-a (9, 30, 118, 300)</a:t>
            </a:r>
            <a:br>
              <a:rPr lang="en-US" altLang="en-US" sz="2000">
                <a:ea typeface="+mj-ea"/>
              </a:rPr>
            </a:br>
            <a:r>
              <a:rPr lang="en-US" altLang="en-US" sz="2000">
                <a:ea typeface="+mj-ea"/>
              </a:rPr>
              <a:t>  - ID 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vorova sa SOFC jedinicom</a:t>
            </a:r>
            <a:endParaRPr lang="en-US" altLang="en-US" sz="2000">
              <a:ea typeface="+mj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bs-Latn-BA">
                <a:ea typeface="+mn-ea"/>
              </a:rPr>
              <a:t>03</a:t>
            </a:r>
            <a:endParaRPr lang="bs-Latn-BA">
              <a:ea typeface="+mn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 altLang="en-US">
                <a:ea typeface="+mj-ea"/>
              </a:rPr>
              <a:t>Arhitektura softvera</a:t>
            </a:r>
            <a:endParaRPr lang="bs-Latn-BA" altLang="en-US"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50890" y="1810385"/>
            <a:ext cx="5464175" cy="4758690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Your title here</a:t>
            </a:r>
            <a:endParaRPr lang="en-US" altLang="en-US" sz="2000">
              <a:ea typeface="+mj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bs-Latn-BA">
                <a:ea typeface="+mn-ea"/>
              </a:rPr>
              <a:t>04</a:t>
            </a:r>
            <a:endParaRPr lang="bs-Latn-BA">
              <a:ea typeface="+mn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 altLang="en-US">
                <a:ea typeface="+mj-ea"/>
              </a:rPr>
              <a:t>GUI - </a:t>
            </a:r>
            <a:r>
              <a:rPr lang="en-US" altLang="en-US">
                <a:ea typeface="+mj-ea"/>
              </a:rPr>
              <a:t>dTwin Plugin</a:t>
            </a:r>
            <a:endParaRPr lang="en-US" altLang="en-US">
              <a:ea typeface="+mj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" y="1272540"/>
            <a:ext cx="6035040" cy="45491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810" y="1381125"/>
            <a:ext cx="6080760" cy="45415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6715" y="1024890"/>
            <a:ext cx="5464175" cy="1177925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IEEE Case 9 (9 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vorova):</a:t>
            </a:r>
            <a:endParaRPr lang="en-US" altLang="en-US" sz="2000">
              <a:ea typeface="+mj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>
                <a:ea typeface="+mj-ea"/>
              </a:rPr>
              <a:t>Rezultati simulacije</a:t>
            </a:r>
            <a:endParaRPr lang="bs-Latn-BA">
              <a:ea typeface="+mj-ea"/>
            </a:endParaRPr>
          </a:p>
        </p:txBody>
      </p:sp>
      <p:pic>
        <p:nvPicPr>
          <p:cNvPr id="3" name="Picture 2" descr="sofc_current_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" y="2357120"/>
            <a:ext cx="6649085" cy="3916045"/>
          </a:xfrm>
          <a:prstGeom prst="rect">
            <a:avLst/>
          </a:prstGeom>
        </p:spPr>
      </p:pic>
      <p:pic>
        <p:nvPicPr>
          <p:cNvPr id="7" name="Picture 6" descr="sofc_power_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590" y="2202815"/>
            <a:ext cx="6478270" cy="38315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86715" y="1024890"/>
            <a:ext cx="5464175" cy="1177925"/>
          </a:xfrm>
        </p:spPr>
        <p:txBody>
          <a:bodyPr>
            <a:noAutofit/>
          </a:bodyPr>
          <a:lstStyle/>
          <a:p>
            <a:pPr marL="0" indent="0" fontAlgn="auto"/>
            <a:r>
              <a:rPr lang="en-US" altLang="en-US" sz="2000">
                <a:ea typeface="+mj-ea"/>
              </a:rPr>
              <a:t>IEEE Case </a:t>
            </a:r>
            <a:r>
              <a:rPr lang="bs-Latn-BA" altLang="en-US" sz="2000">
                <a:ea typeface="+mj-ea"/>
              </a:rPr>
              <a:t>30</a:t>
            </a:r>
            <a:r>
              <a:rPr lang="en-US" altLang="en-US" sz="2000">
                <a:ea typeface="+mj-ea"/>
              </a:rPr>
              <a:t> (</a:t>
            </a:r>
            <a:r>
              <a:rPr lang="bs-Latn-BA" altLang="en-US" sz="2000">
                <a:ea typeface="+mj-ea"/>
              </a:rPr>
              <a:t>30</a:t>
            </a:r>
            <a:r>
              <a:rPr lang="en-US" altLang="en-US" sz="2000">
                <a:ea typeface="+mj-ea"/>
              </a:rPr>
              <a:t> </a:t>
            </a:r>
            <a:r>
              <a:rPr lang="en-US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vorova):</a:t>
            </a:r>
            <a:endParaRPr lang="en-US" altLang="en-US" sz="2000">
              <a:ea typeface="+mj-ea"/>
            </a:endParaRPr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50890" y="665480"/>
            <a:ext cx="5464175" cy="8375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bs-Latn-BA">
                <a:ea typeface="+mj-ea"/>
              </a:rPr>
              <a:t>Rezultati simulacije</a:t>
            </a:r>
            <a:endParaRPr lang="bs-Latn-BA">
              <a:ea typeface="+mj-ea"/>
            </a:endParaRPr>
          </a:p>
        </p:txBody>
      </p:sp>
      <p:pic>
        <p:nvPicPr>
          <p:cNvPr id="2" name="Picture 1" descr="sofc_power_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" y="2077085"/>
            <a:ext cx="5699760" cy="3525520"/>
          </a:xfrm>
          <a:prstGeom prst="rect">
            <a:avLst/>
          </a:prstGeom>
        </p:spPr>
      </p:pic>
      <p:pic>
        <p:nvPicPr>
          <p:cNvPr id="3" name="Picture 2" descr="sofc_current_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75" y="2090420"/>
            <a:ext cx="5724525" cy="3512185"/>
          </a:xfrm>
          <a:prstGeom prst="rect">
            <a:avLst/>
          </a:prstGeom>
        </p:spPr>
      </p:pic>
      <p:sp>
        <p:nvSpPr>
          <p:cNvPr id="6" name="标题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86715" y="5680075"/>
            <a:ext cx="5464175" cy="11779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indent="0" fontAlgn="auto"/>
            <a:r>
              <a:rPr lang="en-US" altLang="en-US" sz="2000">
                <a:ea typeface="+mj-ea"/>
              </a:rPr>
              <a:t>- SOFC struja stabilizira na ~25A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- DC snaga: ~6.5W po </a:t>
            </a:r>
            <a:r>
              <a:rPr lang="" altLang="en-US" sz="2000">
                <a:ea typeface="+mj-ea"/>
              </a:rPr>
              <a:t>ć</a:t>
            </a:r>
            <a:r>
              <a:rPr lang="en-US" altLang="en-US" sz="2000">
                <a:ea typeface="+mj-ea"/>
              </a:rPr>
              <a:t>eliji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- AC snaga (η=96%): ~6.2W</a:t>
            </a:r>
            <a:endParaRPr lang="en-US" altLang="en-US" sz="2000">
              <a:ea typeface="+mj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47970" y="1471930"/>
            <a:ext cx="5464175" cy="1062355"/>
          </a:xfrm>
        </p:spPr>
        <p:txBody>
          <a:bodyPr/>
          <a:lstStyle/>
          <a:p>
            <a:r>
              <a:rPr lang="bs-Latn-BA" altLang="en-US">
                <a:ea typeface="+mj-ea"/>
              </a:rPr>
              <a:t>Zaključak</a:t>
            </a:r>
            <a:endParaRPr lang="bs-Latn-BA" altLang="en-US">
              <a:ea typeface="+mj-ea"/>
            </a:endParaRPr>
          </a:p>
        </p:txBody>
      </p:sp>
      <p:sp>
        <p:nvSpPr>
          <p:cNvPr id="3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38190" y="2534285"/>
            <a:ext cx="5464175" cy="38176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indent="0" fontAlgn="auto"/>
            <a:r>
              <a:rPr lang="en-US" altLang="en-US" sz="2000">
                <a:ea typeface="+mj-ea"/>
              </a:rPr>
              <a:t>Ura</a:t>
            </a:r>
            <a:r>
              <a:rPr lang="" altLang="en-US" sz="2000">
                <a:ea typeface="+mj-ea"/>
              </a:rPr>
              <a:t>đ</a:t>
            </a:r>
            <a:r>
              <a:rPr lang="en-US" altLang="en-US" sz="2000">
                <a:ea typeface="+mj-ea"/>
              </a:rPr>
              <a:t>eno: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C++ plugin u dTwin-u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XML konfiguracijski fajl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SOFC + Invertor matemati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ki model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IEEE Case 9 i Case 30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GUI sa parametrima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✓ Grafi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ki prikaz rezultata</a:t>
            </a:r>
            <a:endParaRPr lang="en-US" altLang="en-US" sz="2000">
              <a:ea typeface="+mj-ea"/>
            </a:endParaRPr>
          </a:p>
          <a:p>
            <a:pPr marL="0" indent="0" fontAlgn="auto"/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Planirano: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→ Case 118 i Case 300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→ Pobolj</a:t>
            </a:r>
            <a:r>
              <a:rPr lang="" altLang="en-US" sz="2000">
                <a:ea typeface="+mj-ea"/>
              </a:rPr>
              <a:t>š</a:t>
            </a:r>
            <a:r>
              <a:rPr lang="en-US" altLang="en-US" sz="2000">
                <a:ea typeface="+mj-ea"/>
              </a:rPr>
              <a:t>an dinami</a:t>
            </a:r>
            <a:r>
              <a:rPr lang="" altLang="en-US" sz="2000">
                <a:ea typeface="+mj-ea"/>
              </a:rPr>
              <a:t>č</a:t>
            </a:r>
            <a:r>
              <a:rPr lang="en-US" altLang="en-US" sz="2000">
                <a:ea typeface="+mj-ea"/>
              </a:rPr>
              <a:t>ki model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→ Power flow algoritam</a:t>
            </a:r>
            <a:endParaRPr lang="en-US" altLang="en-US" sz="2000"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47970" y="1471930"/>
            <a:ext cx="5464175" cy="1062355"/>
          </a:xfrm>
        </p:spPr>
        <p:txBody>
          <a:bodyPr/>
          <a:lstStyle/>
          <a:p>
            <a:r>
              <a:rPr lang="bs-Latn-BA" altLang="en-US">
                <a:ea typeface="+mj-ea"/>
              </a:rPr>
              <a:t>Literatura</a:t>
            </a:r>
            <a:endParaRPr lang="bs-Latn-BA" altLang="en-US">
              <a:ea typeface="+mj-ea"/>
            </a:endParaRPr>
          </a:p>
        </p:txBody>
      </p:sp>
      <p:sp>
        <p:nvSpPr>
          <p:cNvPr id="3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38190" y="2534285"/>
            <a:ext cx="5464175" cy="38176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indent="0" fontAlgn="auto"/>
            <a:r>
              <a:rPr lang="en-US" altLang="en-US" sz="2000">
                <a:ea typeface="+mj-ea"/>
              </a:rPr>
              <a:t>[1] F. Milano, Power Systems Modelling and Scripting,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    Springer, 2010.</a:t>
            </a:r>
            <a:endParaRPr lang="en-US" altLang="en-US" sz="2000">
              <a:ea typeface="+mj-ea"/>
            </a:endParaRPr>
          </a:p>
          <a:p>
            <a:pPr marL="0" indent="0" fontAlgn="auto"/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[2] natID SDK dokumentacija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    github.com/idzafic/natID</a:t>
            </a:r>
            <a:endParaRPr lang="en-US" altLang="en-US" sz="2000">
              <a:ea typeface="+mj-ea"/>
            </a:endParaRPr>
          </a:p>
          <a:p>
            <a:pPr marL="0" indent="0" fontAlgn="auto"/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[3] dTwin dokumentacija  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    github.com/idzafic/dTwin</a:t>
            </a:r>
            <a:endParaRPr lang="en-US" altLang="en-US" sz="2000">
              <a:ea typeface="+mj-ea"/>
            </a:endParaRPr>
          </a:p>
          <a:p>
            <a:pPr marL="0" indent="0" fontAlgn="auto"/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[4] IEEE Test Cases</a:t>
            </a:r>
            <a:endParaRPr lang="en-US" altLang="en-US" sz="2000">
              <a:ea typeface="+mj-ea"/>
            </a:endParaRPr>
          </a:p>
          <a:p>
            <a:pPr marL="0" indent="0" fontAlgn="auto"/>
            <a:r>
              <a:rPr lang="en-US" altLang="en-US" sz="2000">
                <a:ea typeface="+mj-ea"/>
              </a:rPr>
              <a:t>    power-grid-lib.github.io</a:t>
            </a:r>
            <a:endParaRPr lang="en-US" altLang="en-US" sz="2000"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bs-Latn-BA" altLang="en-US">
                <a:ea typeface="+mj-ea"/>
              </a:rPr>
              <a:t>Hvala na pažnji!</a:t>
            </a:r>
            <a:endParaRPr lang="bs-Latn-BA" altLang="en-US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bs-Latn-BA" altLang="en-US">
                <a:ea typeface="+mn-ea"/>
              </a:rPr>
              <a:t>Pitanja?</a:t>
            </a:r>
            <a:endParaRPr lang="bs-Latn-BA" altLang="en-US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3477_4*h_i*1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3477_4*h_f*1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3477_4*h_i*4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3477_4*h_f*4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3477_4*h_i*2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3477_4*h_f*2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3477_4*h_i*3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3477_4*h_f*3_1"/>
  <p:tag name="KSO_WM_TEMPLATE_CATEGORY" val="custom"/>
  <p:tag name="KSO_WM_TEMPLATE_INDEX" val="2023347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5.0112609863281,&quot;width&quot;:402.7144775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PRESET_TEXT" val="01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7_7*e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PRESET_TEXT" val="01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7_7*e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PRESET_TEXT" val="01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7_7*e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PRESET_TEXT" val="01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77_7*e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7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SPECIAL_SOURCE" val="bdnull"/>
  <p:tag name="KSO_WM_SLIDE_ID" val="custom2023347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77"/>
  <p:tag name="KSO_WM_SLIDE_LAYOUT" val="a_e"/>
  <p:tag name="KSO_WM_SLIDE_LAYOUT_CNT" val="1_1"/>
  <p:tag name="KSO_WM_SLIDE_THEME_ID" val="3321190"/>
  <p:tag name="KSO_WM_SLIDE_THEME_NAME" val="Yellow Line Minimalist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9*a*1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THANK YOU"/>
</p:tagLst>
</file>

<file path=ppt/tags/tag11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9*f*4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Name"/>
</p:tagLst>
</file>

<file path=ppt/tags/tag120.xml><?xml version="1.0" encoding="utf-8"?>
<p:tagLst xmlns:p="http://schemas.openxmlformats.org/presentationml/2006/main">
  <p:tag name="KSO_WM_SPECIAL_SOURCE" val="bdnull"/>
  <p:tag name="KSO_WM_SLIDE_ID" val="custom20233477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heme/theme1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Presentation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Inter</vt:lpstr>
      <vt:lpstr>Segoe Print</vt:lpstr>
      <vt:lpstr>Inter Bold</vt:lpstr>
      <vt:lpstr>Lato</vt:lpstr>
      <vt:lpstr>Manrope ExtraBold</vt:lpstr>
      <vt:lpstr>1_Office Theme</vt:lpstr>
      <vt:lpstr>The title goes here</vt:lpstr>
      <vt:lpstr>Contents </vt:lpstr>
      <vt:lpstr>Šta je SOFC?</vt:lpstr>
      <vt:lpstr>- Solid Oxide Fuel Cell (SOFC) je elektrokemijski uređaj   koji pretvara hemijsku energiju direktno u električnu  - Radna temperatura: 600-1000°C  - Efikasnost: 50-65% (veća od konvencionalnih generatora)  - SOFC + Invertor = sistem za napajanje AC mreže  - Primjena: distribuirana proizvodnja električne energije</vt:lpstr>
      <vt:lpstr>Nernst napon: V_Nernst = E0 + (RT/2F) · ln(pH2 · √pO2 / pH2O)  Gubici napona: V_cell = V_Nernst - V_ohm - V_act  gdje je: - V_ohm = I · Rint  (ohmski gubitak) - V_act = 0.1 · ln(1 + I/0.01)  (aktivacijski gubitak)  Invertor: P_ac = η · P_sofc    (η = 0.96)</vt:lpstr>
      <vt:lpstr>Naslov: Implementacija - Plugin arhitektura  - C++ plugin (DLL) učitan u dTwin aplikaciju - Dva threada:   - Thread 1: konverzija i računanje modela   - Thread 2: real-time progress indikator  - GUI sa dva taba:   - Converter: učitavanje XML config fajla   - Options: SOFC parametri  - XML konfiguracijski fajl:   - Broj case-a (9, 30, 118, 300)   - ID čvorova sa SOFC jedinicom</vt:lpstr>
      <vt:lpstr>Your title here</vt:lpstr>
      <vt:lpstr>IEEE Case 30 (30 čvorova):</vt:lpstr>
      <vt:lpstr>Uvod</vt:lpstr>
      <vt:lpstr>Zaključak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DT User</dc:creator>
  <cp:lastModifiedBy>Esma Junuzović</cp:lastModifiedBy>
  <cp:revision>6</cp:revision>
  <dcterms:created xsi:type="dcterms:W3CDTF">2026-06-17T21:13:29Z</dcterms:created>
  <dcterms:modified xsi:type="dcterms:W3CDTF">2026-06-17T21:30:18Z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5C4550024CF0496D85EA54C535B3BDA5_11</vt:lpwstr>
  </property>
</Properties>
</file>